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509" r:id="rId7"/>
    <p:sldId id="2147470510" r:id="rId8"/>
    <p:sldId id="2147470497" r:id="rId9"/>
    <p:sldId id="2147470507" r:id="rId10"/>
    <p:sldId id="2147470506" r:id="rId11"/>
    <p:sldId id="2147470499" r:id="rId12"/>
    <p:sldId id="2147470508" r:id="rId13"/>
    <p:sldId id="2147470502" r:id="rId14"/>
    <p:sldId id="21474705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Cibiksha V</a:t>
            </a:r>
          </a:p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MTech AI&amp;DS | BSA Crescent Institute Of Science and Technology | T9960</a:t>
            </a: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Legal case filings contain complex and extensive information that requires careful analysis.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Identifying the relevant Acts and Sections manually can be time-consuming.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Finding previous judgments related to similar legal issues also requires extensive legal research.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CASETAG uses Retrieval-Augmented Generation (RAG) to retrieve relevant legal provisions and previous criminal judgments.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 retrieved information is processed by an LLM to generate clear and relevant legal explanations.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 system aims to make legal research faster, structured, and easier to understand.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1843791" y="57036"/>
            <a:ext cx="1034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</a:rPr>
              <a:t>To develop an LLM-based RAG system for </a:t>
            </a:r>
            <a:r>
              <a:rPr lang="en-IN" b="0" dirty="0" err="1">
                <a:solidFill>
                  <a:schemeClr val="tx1"/>
                </a:solidFill>
              </a:rPr>
              <a:t>analyzing</a:t>
            </a:r>
            <a:r>
              <a:rPr lang="en-IN" b="0" dirty="0">
                <a:solidFill>
                  <a:schemeClr val="tx1"/>
                </a:solidFill>
              </a:rPr>
              <a:t> legal case filings.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retrieve relevant Acts and Sections based on the facts and legal issues in a case.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retrieve relevant previous criminal judgments related to the given case.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use semantic search and FAISS for efficient retrieval of legal information.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generate clear explanations of why the retrieved legal provisions and judgments are relevant.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provide a structured and user-friendly platform for assisting legal research and case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1708879" y="57036"/>
            <a:ext cx="10483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1311666" y="0"/>
            <a:ext cx="1088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F2DE33-2FC4-5440-DD98-031954F06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64076"/>
              </p:ext>
            </p:extLst>
          </p:nvPr>
        </p:nvGraphicFramePr>
        <p:xfrm>
          <a:off x="289121" y="1314100"/>
          <a:ext cx="11152680" cy="40780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7560">
                  <a:extLst>
                    <a:ext uri="{9D8B030D-6E8A-4147-A177-3AD203B41FA5}">
                      <a16:colId xmlns:a16="http://schemas.microsoft.com/office/drawing/2014/main" val="3876018116"/>
                    </a:ext>
                  </a:extLst>
                </a:gridCol>
                <a:gridCol w="3717560">
                  <a:extLst>
                    <a:ext uri="{9D8B030D-6E8A-4147-A177-3AD203B41FA5}">
                      <a16:colId xmlns:a16="http://schemas.microsoft.com/office/drawing/2014/main" val="3911805943"/>
                    </a:ext>
                  </a:extLst>
                </a:gridCol>
                <a:gridCol w="3717560">
                  <a:extLst>
                    <a:ext uri="{9D8B030D-6E8A-4147-A177-3AD203B41FA5}">
                      <a16:colId xmlns:a16="http://schemas.microsoft.com/office/drawing/2014/main" val="3446529617"/>
                    </a:ext>
                  </a:extLst>
                </a:gridCol>
              </a:tblGrid>
              <a:tr h="24648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S. No.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Module Name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Description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53499147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dirty="0"/>
                        <a:t>1</a:t>
                      </a:r>
                      <a:endParaRPr lang="en-IN" sz="1400" dirty="0"/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1" dirty="0"/>
                        <a:t>Case Filing Input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Accepts case details or legal case filings from the user.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3061715744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dirty="0"/>
                        <a:t>2</a:t>
                      </a:r>
                      <a:endParaRPr lang="en-IN" sz="1400" dirty="0"/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1" dirty="0"/>
                        <a:t>Legal Document Processing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Processes, cleans, and chunks legal documents for retrieval.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595358116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dirty="0"/>
                        <a:t>3</a:t>
                      </a:r>
                      <a:endParaRPr lang="en-IN" sz="1400" dirty="0"/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1" dirty="0"/>
                        <a:t>Legal Provision Retrieval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Retrieves relevant Acts and Sections using semantic search and FAISS.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3078858680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dirty="0"/>
                        <a:t>4</a:t>
                      </a:r>
                      <a:endParaRPr lang="en-IN" sz="1400" dirty="0"/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1" dirty="0"/>
                        <a:t>Previous Judgment Retrieval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Retrieves relevant previous criminal judgments related to the case.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2379215642"/>
                  </a:ext>
                </a:extLst>
              </a:tr>
              <a:tr h="603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dirty="0"/>
                        <a:t>5</a:t>
                      </a:r>
                      <a:endParaRPr lang="en-IN" sz="1400" dirty="0"/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1" dirty="0"/>
                        <a:t>LLM-Based Explanation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Uses the Groq LLM to explain the relevance of retrieved legal information.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627605907"/>
                  </a:ext>
                </a:extLst>
              </a:tr>
              <a:tr h="603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dirty="0"/>
                        <a:t>6</a:t>
                      </a:r>
                      <a:endParaRPr lang="en-IN" sz="1400" dirty="0"/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1" dirty="0"/>
                        <a:t>Case Analysis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Presents relevant provisions, punishment details, and judgment-based insights.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2348507576"/>
                  </a:ext>
                </a:extLst>
              </a:tr>
              <a:tr h="603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dirty="0"/>
                        <a:t>7</a:t>
                      </a:r>
                      <a:endParaRPr lang="en-IN" sz="1400" dirty="0"/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1" dirty="0"/>
                        <a:t>User Interface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Provides a user-friendly React interface for case analysis and legal queries.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121182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1903751" y="57036"/>
            <a:ext cx="1028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72936-29F5-B9CF-EF06-BF20ADBA0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219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651B-A680-1425-F794-26F124BD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21AC41-145E-ACED-3F7F-07C59AC81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D4B5D-B419-6DB6-63D1-F401F8EE8A9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A2B14B-9E4B-7146-421C-4589902F4D1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208BCEF-49EC-FF8F-E1AF-28B35DAC90E7}"/>
              </a:ext>
            </a:extLst>
          </p:cNvPr>
          <p:cNvSpPr txBox="1"/>
          <p:nvPr/>
        </p:nvSpPr>
        <p:spPr>
          <a:xfrm>
            <a:off x="1813811" y="57036"/>
            <a:ext cx="1037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686A1-A7D5-E83A-B9A7-CFEC6A100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42"/>
          <a:stretch>
            <a:fillRect/>
          </a:stretch>
        </p:blipFill>
        <p:spPr>
          <a:xfrm>
            <a:off x="1049313" y="1225053"/>
            <a:ext cx="9594358" cy="431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7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62FE-3AE4-8FC2-8314-0B6373FE6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1BD887-037B-AD35-CC5A-0FB7EED0A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A7AE0-4164-3929-6FAF-02585A829F5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2EE9DA-9C2E-B401-3E47-CF73F1E6CE5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65C010B-1E1C-93A4-6160-CD82B2713F47}"/>
              </a:ext>
            </a:extLst>
          </p:cNvPr>
          <p:cNvSpPr txBox="1"/>
          <p:nvPr/>
        </p:nvSpPr>
        <p:spPr>
          <a:xfrm>
            <a:off x="1813811" y="57036"/>
            <a:ext cx="1037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504291-92AD-1B87-3F10-3AE86A0D6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28" t="9782" r="1028" b="41750"/>
          <a:stretch>
            <a:fillRect/>
          </a:stretch>
        </p:blipFill>
        <p:spPr>
          <a:xfrm>
            <a:off x="677010" y="2117256"/>
            <a:ext cx="10203324" cy="245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8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1139253" y="57036"/>
            <a:ext cx="11052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8B45D-7662-C96A-3545-AB923A9C0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03" y="1191756"/>
            <a:ext cx="10431331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7FC8-DF38-978D-521D-AA52AB4B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6C70A9-C89F-B9E2-2898-97F92C943F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B9610-14B2-59B6-A6EC-D1F83AE8C64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25EAEF-2534-5C40-141B-8BDE513117F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7A6A264-143D-D9D1-EEC7-3EFB77084886}"/>
              </a:ext>
            </a:extLst>
          </p:cNvPr>
          <p:cNvSpPr txBox="1"/>
          <p:nvPr/>
        </p:nvSpPr>
        <p:spPr>
          <a:xfrm>
            <a:off x="944381" y="57036"/>
            <a:ext cx="11247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88595B-3D5B-7269-74CA-7077EF552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04" y="1148876"/>
            <a:ext cx="8621328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4112-3872-29E9-A78F-E9C33220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888DC1-CE4D-9D24-F2B1-476E9484C6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EECD7-8492-B1C5-EE6C-5CD82278DB8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14DA47-7FC1-35AD-9429-27245145033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892348-FCEF-D0D2-8959-BEDF8CBB2508}"/>
              </a:ext>
            </a:extLst>
          </p:cNvPr>
          <p:cNvSpPr txBox="1"/>
          <p:nvPr/>
        </p:nvSpPr>
        <p:spPr>
          <a:xfrm>
            <a:off x="479685" y="57036"/>
            <a:ext cx="1171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30471-55AD-4026-CC26-72BFC112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040" y="1234637"/>
            <a:ext cx="7278116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529008"/>
            <a:ext cx="11347445" cy="3760151"/>
          </a:xfrm>
        </p:spPr>
        <p:txBody>
          <a:bodyPr/>
          <a:lstStyle/>
          <a:p>
            <a:pPr marL="0" indent="0" algn="just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CASETAG integrates RAG and LLM technologies to assist in legal case analysis by retrieving relevant Acts, Sections, and previous criminal judgments. The retrieved information is processed by the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LLM to generate structured legal explanations based on the case facts. The system provides a user-friendly platform for faster, structured, and evidence-grounded legal research.</a:t>
            </a:r>
            <a:endParaRPr lang="en-US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944381" y="57036"/>
            <a:ext cx="11247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2EC5E-BFEE-654C-53E8-08811192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175313-9D6E-B8BE-001E-846F4E31CF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lvl="0" indent="0">
              <a:buNone/>
            </a:pPr>
            <a:endParaRPr lang="en-IN" b="0" dirty="0">
              <a:solidFill>
                <a:schemeClr val="tx1"/>
              </a:solidFill>
            </a:endParaRP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Multilingual Support for Tamil, Hindi, and other Indian languages.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Continuous Knowledge-Base Updates with new judgments, Acts, and amendments.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F8DA0-A6B1-E5EE-50BF-871F6628D2D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Future Work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1E29D7-3E43-2400-ED21-C908329849D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83EAC1C-D3E6-65B4-C7E9-AEDCB589E456}"/>
              </a:ext>
            </a:extLst>
          </p:cNvPr>
          <p:cNvSpPr txBox="1"/>
          <p:nvPr/>
        </p:nvSpPr>
        <p:spPr>
          <a:xfrm>
            <a:off x="1567663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05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sz="2400" b="0" dirty="0">
                <a:solidFill>
                  <a:schemeClr val="tx1"/>
                </a:solidFill>
              </a:rPr>
              <a:t>I sincerely thank LTM and L&amp;T </a:t>
            </a:r>
            <a:r>
              <a:rPr lang="en-IN" sz="2400" b="0" dirty="0" err="1">
                <a:solidFill>
                  <a:schemeClr val="tx1"/>
                </a:solidFill>
              </a:rPr>
              <a:t>EduTech</a:t>
            </a:r>
            <a:r>
              <a:rPr lang="en-IN" sz="2400" b="0" dirty="0">
                <a:solidFill>
                  <a:schemeClr val="tx1"/>
                </a:solidFill>
              </a:rPr>
              <a:t> for providing the infrastructure, laptop, training room, ID card, and a valuable 2-month opportunity to enhance my technical skills through practical project development.</a:t>
            </a:r>
          </a:p>
          <a:p>
            <a:pPr algn="just"/>
            <a:r>
              <a:rPr lang="en-IN" sz="2400" b="0" dirty="0">
                <a:solidFill>
                  <a:schemeClr val="tx1"/>
                </a:solidFill>
              </a:rPr>
              <a:t> I express my special gratitude to Dr. Ganesh for his continuous guidance, valuable suggestions, and support in improving my project. I also thank the Classroom Managers for their daily monitoring, coordination, and assistance in resolving issues. Finally, my special thanks to Mr. Jayakanthan, Manager – Delivery Operations, L&amp;T </a:t>
            </a:r>
            <a:r>
              <a:rPr lang="en-IN" sz="2400" b="0" dirty="0" err="1">
                <a:solidFill>
                  <a:schemeClr val="tx1"/>
                </a:solidFill>
              </a:rPr>
              <a:t>EduTech</a:t>
            </a:r>
            <a:r>
              <a:rPr lang="en-IN" sz="2400" b="0" dirty="0">
                <a:solidFill>
                  <a:schemeClr val="tx1"/>
                </a:solidFill>
              </a:rPr>
              <a:t>, for his encouragement, support, and for providing this valuable opportunity.</a:t>
            </a:r>
          </a:p>
          <a:p>
            <a:pPr marL="0" indent="0" algn="just">
              <a:buNone/>
            </a:pPr>
            <a:endParaRPr lang="en-US" sz="20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/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1311667" y="57036"/>
            <a:ext cx="1088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050272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[1] Government of India, “India Code: The Bharatiya Nyaya Sanhita, 2023,” India Code, 2023.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[2]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KanoonGPT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“Indian Legal Documents Dataset,” Hugging Face.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[3] J. Johnson, M.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Douze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and H. Jégou, “Billion-scale similarity search with GPUs,” 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IEEE Transactions on Big Data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vol. 7, no. 3, pp. 535–547, 2021.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[4] P. Lewis 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et al.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“Retrieval-augmented generation for knowledge-intensive NLP tasks,” 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Advances in Neural Information Processing Systems (</a:t>
            </a:r>
            <a:r>
              <a:rPr lang="en-IN" b="0" i="1" dirty="0" err="1">
                <a:solidFill>
                  <a:schemeClr val="tx1"/>
                </a:solidFill>
                <a:latin typeface="Calibri (Body)"/>
              </a:rPr>
              <a:t>NeurIPS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)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vol. 33, pp. 9459–9474, 2020.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[5]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“nomic-embed-text: Text Embedding Model,”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Documentation.</a:t>
            </a:r>
          </a:p>
          <a:p>
            <a:pPr marL="0" indent="0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[6]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API Documentation,”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Documentation.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749508" y="57036"/>
            <a:ext cx="1167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879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68</cp:revision>
  <dcterms:created xsi:type="dcterms:W3CDTF">2024-05-13T10:33:11Z</dcterms:created>
  <dcterms:modified xsi:type="dcterms:W3CDTF">2026-10-12T09:18:08Z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